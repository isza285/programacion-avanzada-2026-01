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9" r:id="rId3"/>
    <p:sldId id="257" r:id="rId4"/>
    <p:sldId id="261" r:id="rId5"/>
    <p:sldId id="260" r:id="rId6"/>
    <p:sldId id="266" r:id="rId7"/>
    <p:sldId id="267" r:id="rId8"/>
    <p:sldId id="262" r:id="rId9"/>
    <p:sldId id="263" r:id="rId10"/>
    <p:sldId id="264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5" autoAdjust="0"/>
  </p:normalViewPr>
  <p:slideViewPr>
    <p:cSldViewPr snapToGrid="0">
      <p:cViewPr varScale="1">
        <p:scale>
          <a:sx n="99" d="100"/>
          <a:sy n="99" d="100"/>
        </p:scale>
        <p:origin x="1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5A372BF-A47C-837D-E912-3633088331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0962C1-0A66-7D5A-4B8F-65AB2E1FD0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BD8D4-8051-4105-B8FD-0AE18DD8FF52}" type="datetime1">
              <a:rPr lang="es-CL" smtClean="0"/>
              <a:t>16-03-2026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F2C337-2FAA-7D1D-3E68-03694DB15B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F760F8-DA0A-026A-16D9-373CA990CB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8CE44-EF1C-4CCE-BBB2-2D329F8E7E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0715408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7CBC7-BF1E-4FE5-990A-CE677526AD8A}" type="datetime1">
              <a:rPr lang="es-CL" smtClean="0"/>
              <a:t>16-03-2026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C545C-3BFD-453E-8611-555D487EC2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475237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613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373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240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92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698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253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067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803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344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944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16-03-2026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Avanzada Sec: 03 CIT1010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941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CL"/>
              <a:t>Fecha: 16-03-2026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CL"/>
              <a:t>Ayudantía N°1 Programación Avanzada Sec: 03 CIT1010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447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saias.vasquez1@mail.udp.c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D2CBF1-2226-AACE-A44E-B9066A72B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115" y="1178157"/>
            <a:ext cx="10053763" cy="1972004"/>
          </a:xfrm>
        </p:spPr>
        <p:txBody>
          <a:bodyPr anchor="b">
            <a:normAutofit fontScale="90000"/>
          </a:bodyPr>
          <a:lstStyle/>
          <a:p>
            <a:r>
              <a:rPr lang="es-CL" sz="4800" b="1" noProof="0" dirty="0">
                <a:solidFill>
                  <a:srgbClr val="FFFFFF"/>
                </a:solidFill>
                <a:latin typeface="Calibri" panose="020F0502020204030204" pitchFamily="34" charset="0"/>
                <a:ea typeface="MingLiU_MSCS-ExtB" panose="020B0604030504040204" pitchFamily="18" charset="-120"/>
                <a:cs typeface="Calibri" panose="020F0502020204030204" pitchFamily="34" charset="0"/>
              </a:rPr>
              <a:t>Ayudantía 1</a:t>
            </a:r>
            <a:br>
              <a:rPr lang="es-CL" sz="4800" b="1" noProof="0" dirty="0">
                <a:solidFill>
                  <a:srgbClr val="FFFFFF"/>
                </a:solidFill>
                <a:latin typeface="Calibri" panose="020F0502020204030204" pitchFamily="34" charset="0"/>
                <a:ea typeface="MingLiU_MSCS-ExtB" panose="020B0604030504040204" pitchFamily="18" charset="-120"/>
                <a:cs typeface="Calibri" panose="020F0502020204030204" pitchFamily="34" charset="0"/>
              </a:rPr>
            </a:br>
            <a:br>
              <a:rPr lang="es-CL" sz="4800" b="1" noProof="0" dirty="0">
                <a:solidFill>
                  <a:srgbClr val="FFFFFF"/>
                </a:solidFill>
                <a:latin typeface="Calibri" panose="020F0502020204030204" pitchFamily="34" charset="0"/>
                <a:ea typeface="MingLiU_MSCS-ExtB" panose="020B0604030504040204" pitchFamily="18" charset="-120"/>
                <a:cs typeface="Calibri" panose="020F0502020204030204" pitchFamily="34" charset="0"/>
              </a:rPr>
            </a:br>
            <a:r>
              <a:rPr lang="es-CL" sz="4800" b="1" noProof="0" dirty="0">
                <a:solidFill>
                  <a:srgbClr val="FFFFFF"/>
                </a:solidFill>
                <a:latin typeface="Calibri" panose="020F0502020204030204" pitchFamily="34" charset="0"/>
                <a:ea typeface="MingLiU_MSCS-ExtB" panose="020B0604030504040204" pitchFamily="18" charset="-120"/>
                <a:cs typeface="Calibri" panose="020F0502020204030204" pitchFamily="34" charset="0"/>
              </a:rPr>
              <a:t>Repaso de C++</a:t>
            </a:r>
            <a:endParaRPr lang="es-CL" sz="4800" b="1" noProof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30FDBA-7960-E6D6-3CDE-A484269A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just"/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Contacto: </a:t>
            </a: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isaias.vasquez1@mail.udp.cl</a:t>
            </a: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s-CL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Discord</a:t>
            </a:r>
            <a:r>
              <a:rPr lang="es-CL" b="1" dirty="0">
                <a:latin typeface="Calibri" panose="020F0502020204030204" pitchFamily="34" charset="0"/>
                <a:cs typeface="Calibri" panose="020F0502020204030204" pitchFamily="34" charset="0"/>
              </a:rPr>
              <a:t>: _</a:t>
            </a:r>
            <a:r>
              <a:rPr lang="es-CL" b="1" dirty="0" err="1">
                <a:latin typeface="Calibri" panose="020F0502020204030204" pitchFamily="34" charset="0"/>
                <a:cs typeface="Calibri" panose="020F0502020204030204" pitchFamily="34" charset="0"/>
              </a:rPr>
              <a:t>iszzza</a:t>
            </a:r>
            <a:endParaRPr lang="es-CL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CL" b="1" dirty="0" err="1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s-CL" b="1" dirty="0">
                <a:latin typeface="Calibri" panose="020F0502020204030204" pitchFamily="34" charset="0"/>
                <a:cs typeface="Calibri" panose="020F0502020204030204" pitchFamily="34" charset="0"/>
              </a:rPr>
              <a:t>: https://github.com/Isza285/Programacion-Avanzada-2026-01</a:t>
            </a:r>
            <a:endParaRPr lang="es-CL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860DCC-2393-1050-D8C2-9D84B2149395}"/>
              </a:ext>
            </a:extLst>
          </p:cNvPr>
          <p:cNvSpPr txBox="1"/>
          <p:nvPr/>
        </p:nvSpPr>
        <p:spPr>
          <a:xfrm>
            <a:off x="1429337" y="3429000"/>
            <a:ext cx="9333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Programación Avanzada | Sección: 03 | CIT 1010</a:t>
            </a:r>
          </a:p>
          <a:p>
            <a:pPr algn="ctr"/>
            <a:r>
              <a:rPr lang="es-CL" sz="20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Universidad Diego Portales</a:t>
            </a:r>
          </a:p>
        </p:txBody>
      </p:sp>
    </p:spTree>
    <p:extLst>
      <p:ext uri="{BB962C8B-B14F-4D97-AF65-F5344CB8AC3E}">
        <p14:creationId xmlns:p14="http://schemas.microsoft.com/office/powerpoint/2010/main" val="3031853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1" name="Rectangle 2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4" name="Oval 3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D0554E7-B389-7788-C180-1367C5B8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00" y="1872532"/>
            <a:ext cx="5624802" cy="16450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s-CL" sz="4800" b="1" kern="12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Repaso de contenido</a:t>
            </a:r>
          </a:p>
        </p:txBody>
      </p:sp>
      <p:sp>
        <p:nvSpPr>
          <p:cNvPr id="45" name="Rectangle 3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6" name="Rectangle 3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Marcador de fecha 15">
            <a:extLst>
              <a:ext uri="{FF2B5EF4-FFF2-40B4-BE49-F238E27FC236}">
                <a16:creationId xmlns:a16="http://schemas.microsoft.com/office/drawing/2014/main" id="{767098E7-B577-82D9-C3C3-DBBB8122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18" name="Marcador de pie de página 17">
            <a:extLst>
              <a:ext uri="{FF2B5EF4-FFF2-40B4-BE49-F238E27FC236}">
                <a16:creationId xmlns:a16="http://schemas.microsoft.com/office/drawing/2014/main" id="{BBAC66FC-F090-1483-3887-9F7F2D17B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4653965F-75FE-EE47-90B1-743474CAA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2</a:t>
            </a:fld>
            <a:endParaRPr lang="es-CL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9C8BA80-D6D1-7C38-5A89-DCC7AB605AD4}"/>
              </a:ext>
            </a:extLst>
          </p:cNvPr>
          <p:cNvSpPr txBox="1"/>
          <p:nvPr/>
        </p:nvSpPr>
        <p:spPr>
          <a:xfrm>
            <a:off x="911800" y="1891139"/>
            <a:ext cx="411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b="1" noProof="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Sección 1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C7F1756-6588-BCC5-D5B3-AC1A49F545C1}"/>
              </a:ext>
            </a:extLst>
          </p:cNvPr>
          <p:cNvSpPr txBox="1"/>
          <p:nvPr/>
        </p:nvSpPr>
        <p:spPr>
          <a:xfrm>
            <a:off x="911798" y="3517615"/>
            <a:ext cx="5184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Tipos de datos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Estructuras de control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Arreglos</a:t>
            </a:r>
          </a:p>
        </p:txBody>
      </p:sp>
    </p:spTree>
    <p:extLst>
      <p:ext uri="{BB962C8B-B14F-4D97-AF65-F5344CB8AC3E}">
        <p14:creationId xmlns:p14="http://schemas.microsoft.com/office/powerpoint/2010/main" val="115255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8F0D44-C48A-0256-1008-E67623C75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Tipos de datos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A7CB8E0-56C0-7AFE-BCD8-6B6ACC553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670D46E2-BC71-1B4F-1B76-221AA203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AF3C0ACE-CD82-7687-ABBD-6C073AD73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3</a:t>
            </a:fld>
            <a:endParaRPr lang="es-CL" noProof="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29BE4D0-62F2-65C7-A93E-73FB312AD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874571"/>
              </p:ext>
            </p:extLst>
          </p:nvPr>
        </p:nvGraphicFramePr>
        <p:xfrm>
          <a:off x="459351" y="1676760"/>
          <a:ext cx="5153536" cy="4756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521">
                  <a:extLst>
                    <a:ext uri="{9D8B030D-6E8A-4147-A177-3AD203B41FA5}">
                      <a16:colId xmlns:a16="http://schemas.microsoft.com/office/drawing/2014/main" val="4243523479"/>
                    </a:ext>
                  </a:extLst>
                </a:gridCol>
                <a:gridCol w="3835015">
                  <a:extLst>
                    <a:ext uri="{9D8B030D-6E8A-4147-A177-3AD203B41FA5}">
                      <a16:colId xmlns:a16="http://schemas.microsoft.com/office/drawing/2014/main" val="2137479436"/>
                    </a:ext>
                  </a:extLst>
                </a:gridCol>
              </a:tblGrid>
              <a:tr h="640356">
                <a:tc>
                  <a:txBody>
                    <a:bodyPr/>
                    <a:lstStyle/>
                    <a:p>
                      <a: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Tipos de datos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7877"/>
                  </a:ext>
                </a:extLst>
              </a:tr>
              <a:tr h="640356">
                <a:tc>
                  <a:txBody>
                    <a:bodyPr/>
                    <a:lstStyle/>
                    <a:p>
                      <a:r>
                        <a:rPr lang="es-CL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endParaRPr lang="es-CL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Declara variables de tipo entero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541623"/>
                  </a:ext>
                </a:extLst>
              </a:tr>
              <a:tr h="640356">
                <a:tc>
                  <a:txBody>
                    <a:bodyPr/>
                    <a:lstStyle/>
                    <a:p>
                      <a:r>
                        <a:rPr lang="es-CL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Float</a:t>
                      </a:r>
                      <a:endParaRPr lang="es-CL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Declara variables de tipo 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271159"/>
                  </a:ext>
                </a:extLst>
              </a:tr>
              <a:tr h="640356">
                <a:tc>
                  <a:txBody>
                    <a:bodyPr/>
                    <a:lstStyle/>
                    <a:p>
                      <a:r>
                        <a:rPr lang="es-CL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Char</a:t>
                      </a:r>
                      <a:endParaRPr lang="es-CL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 de un solo carácter</a:t>
                      </a:r>
                      <a:b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Ejemplo: ‘A’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376537"/>
                  </a:ext>
                </a:extLst>
              </a:tr>
              <a:tr h="640356">
                <a:tc>
                  <a:txBody>
                    <a:bodyPr/>
                    <a:lstStyle/>
                    <a:p>
                      <a:r>
                        <a:rPr lang="es-CL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String</a:t>
                      </a:r>
                      <a:endParaRPr lang="es-CL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 que almacena una cadena de caracteres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592922"/>
                  </a:ext>
                </a:extLst>
              </a:tr>
              <a:tr h="640356">
                <a:tc>
                  <a:txBody>
                    <a:bodyPr/>
                    <a:lstStyle/>
                    <a:p>
                      <a:r>
                        <a:rPr lang="es-CL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Bool</a:t>
                      </a:r>
                      <a:endParaRPr lang="es-CL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 de tipo verdadero o falso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930194"/>
                  </a:ext>
                </a:extLst>
              </a:tr>
              <a:tr h="837453">
                <a:tc>
                  <a:txBody>
                    <a:bodyPr/>
                    <a:lstStyle/>
                    <a:p>
                      <a:r>
                        <a:rPr lang="es-CL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</a:t>
                      </a:r>
                      <a:endParaRPr lang="es-CL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 almacena datos, su principal uso es la declaración de funciones que no retornan valores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23009"/>
                  </a:ext>
                </a:extLst>
              </a:tr>
            </a:tbl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5063942E-D17C-AD45-4AEC-371B99774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15" y="1678844"/>
            <a:ext cx="4543142" cy="475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2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B2162-DA74-D7D7-E951-DF62D4536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DA8E61A-BCAA-7078-7C16-29786E96F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469FF5-8FFF-6D01-6E14-7DEB21EA8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D75595-476B-86BD-27D4-2D917A292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4F23D0-7104-F1FB-A284-BE9FFADF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817776-3B26-91CB-3663-163336D4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70353F-8E62-5C19-5815-129B6FB3B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Estructuras de control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5DFDC1-85BF-4C7F-488C-6467F7752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AA257C4C-5455-C9AB-CA2B-FA62AEE9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51943585-424F-7837-5889-258C67B1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4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B35C905-E0EF-04B2-44A5-92305521D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002" y="3184836"/>
            <a:ext cx="4458077" cy="271604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Condicional </a:t>
            </a:r>
            <a:r>
              <a:rPr lang="es-CL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CL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endParaRPr lang="es-CL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CL" sz="2600" noProof="0" dirty="0">
                <a:latin typeface="Calibri" panose="020F0502020204030204" pitchFamily="34" charset="0"/>
                <a:cs typeface="Calibri" panose="020F0502020204030204" pitchFamily="34" charset="0"/>
              </a:rPr>
              <a:t>Ejecutara un código u otro código dependiendo de la condición declarada previamente</a:t>
            </a:r>
          </a:p>
          <a:p>
            <a:pPr marL="0" indent="0" algn="ctr">
              <a:buNone/>
            </a:pP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C255CC0-B035-57B3-5C1E-51973A3F2E77}"/>
              </a:ext>
            </a:extLst>
          </p:cNvPr>
          <p:cNvSpPr txBox="1"/>
          <p:nvPr/>
        </p:nvSpPr>
        <p:spPr>
          <a:xfrm>
            <a:off x="974002" y="1892174"/>
            <a:ext cx="445807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600" noProof="0" dirty="0">
                <a:latin typeface="Calibri" panose="020F0502020204030204" pitchFamily="34" charset="0"/>
                <a:cs typeface="Calibri" panose="020F0502020204030204" pitchFamily="34" charset="0"/>
              </a:rPr>
              <a:t>Las estructuras de control permiten controlar el flujo del código.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33F19B-C8A3-6ECD-81C8-E2BB0078F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915" y="1686247"/>
            <a:ext cx="4375370" cy="440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7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5AD41767-3778-278B-E792-D7C10643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27935970-FD4E-A579-BAC4-A136D687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AE05C567-1496-DE62-F458-0FBE373A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5</a:t>
            </a:fld>
            <a:endParaRPr lang="es-CL" noProof="0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0BFB263-5D31-E04A-4097-99F2773F3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0"/>
            <a:ext cx="5257800" cy="635635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Switch</a:t>
            </a:r>
            <a:endParaRPr lang="es-CL" sz="20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CL" sz="2600" dirty="0">
                <a:latin typeface="Calibri" panose="020F0502020204030204" pitchFamily="34" charset="0"/>
                <a:cs typeface="Calibri" panose="020F0502020204030204" pitchFamily="34" charset="0"/>
              </a:rPr>
              <a:t>Funcionalidad similar a </a:t>
            </a:r>
            <a:r>
              <a:rPr lang="es-CL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s-CL" sz="26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CL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endParaRPr lang="es-CL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CL" sz="2600" noProof="0" dirty="0">
                <a:latin typeface="Calibri" panose="020F0502020204030204" pitchFamily="34" charset="0"/>
                <a:cs typeface="Calibri" panose="020F0502020204030204" pitchFamily="34" charset="0"/>
              </a:rPr>
              <a:t>Se usa principalmente cuando se compara una variable con varios valores posibles preestablecidos</a:t>
            </a:r>
          </a:p>
          <a:p>
            <a:pPr algn="just"/>
            <a:r>
              <a:rPr lang="es-CL" sz="2600" dirty="0">
                <a:latin typeface="Calibri" panose="020F0502020204030204" pitchFamily="34" charset="0"/>
                <a:cs typeface="Calibri" panose="020F0502020204030204" pitchFamily="34" charset="0"/>
              </a:rPr>
              <a:t>Uso del break obligatorio y default opcional</a:t>
            </a:r>
          </a:p>
          <a:p>
            <a:pPr marL="0" indent="0" algn="ctr">
              <a:buNone/>
            </a:pP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Ciclo </a:t>
            </a:r>
            <a:r>
              <a:rPr lang="es-CL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CL" sz="2600" noProof="0" dirty="0">
                <a:latin typeface="Calibri" panose="020F0502020204030204" pitchFamily="34" charset="0"/>
                <a:cs typeface="Calibri" panose="020F0502020204030204" pitchFamily="34" charset="0"/>
              </a:rPr>
              <a:t>Ciclo que inicializa una variable, la cual será la condición de termino del ciclo a medida que esta variable se actualiza al final de cada iteración del mismo ciclo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2DE954B-7733-6D4F-25AA-D6FB46FC4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569" y="136525"/>
            <a:ext cx="4316931" cy="351883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7EF164A-70B2-17B2-69BF-BBB997DC0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568" y="3838637"/>
            <a:ext cx="4316931" cy="233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3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93E55-58F4-2351-4F32-5B6EDFB7B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5D132278-3C03-40F9-2C5E-921500F3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7EF49CC9-F642-1D8D-6F76-4068B5D4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EE6B6614-908C-11DD-8FAA-159B8DDA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6</a:t>
            </a:fld>
            <a:endParaRPr lang="es-CL" noProof="0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26C082D5-83DD-710B-E65E-6B465F554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0"/>
            <a:ext cx="5257800" cy="6356350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s-CL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  <a:endParaRPr lang="es-CL" sz="20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CL" sz="2600" dirty="0">
                <a:latin typeface="Calibri" panose="020F0502020204030204" pitchFamily="34" charset="0"/>
                <a:cs typeface="Calibri" panose="020F0502020204030204" pitchFamily="34" charset="0"/>
              </a:rPr>
              <a:t>Ejecuta un bloque de código mientras la condición inicial se cumpla</a:t>
            </a:r>
          </a:p>
          <a:p>
            <a:pPr algn="just"/>
            <a:r>
              <a:rPr lang="es-CL" sz="2600" dirty="0">
                <a:latin typeface="Calibri" panose="020F0502020204030204" pitchFamily="34" charset="0"/>
                <a:cs typeface="Calibri" panose="020F0502020204030204" pitchFamily="34" charset="0"/>
              </a:rPr>
              <a:t>Para evitar un bucle infinito se puede utilizar un break, incrementar o decrementar una variable en cada iteración, una condición booleana dentro del bloque de código, </a:t>
            </a:r>
            <a:r>
              <a:rPr lang="es-CL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s-CL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Do-</a:t>
            </a:r>
            <a:r>
              <a:rPr lang="es-CL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CL" sz="2600" noProof="0" dirty="0">
                <a:latin typeface="Calibri" panose="020F0502020204030204" pitchFamily="34" charset="0"/>
                <a:cs typeface="Calibri" panose="020F0502020204030204" pitchFamily="34" charset="0"/>
              </a:rPr>
              <a:t>El ciclo do-</a:t>
            </a:r>
            <a:r>
              <a:rPr lang="es-CL" sz="26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  <a:r>
              <a:rPr lang="es-CL" sz="2600" noProof="0" dirty="0">
                <a:latin typeface="Calibri" panose="020F0502020204030204" pitchFamily="34" charset="0"/>
                <a:cs typeface="Calibri" panose="020F0502020204030204" pitchFamily="34" charset="0"/>
              </a:rPr>
              <a:t> funciona igual al ciclo </a:t>
            </a:r>
            <a:r>
              <a:rPr lang="es-CL" sz="26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  <a:r>
              <a:rPr lang="es-CL" sz="2600" noProof="0" dirty="0">
                <a:latin typeface="Calibri" panose="020F0502020204030204" pitchFamily="34" charset="0"/>
                <a:cs typeface="Calibri" panose="020F0502020204030204" pitchFamily="34" charset="0"/>
              </a:rPr>
              <a:t> con la particularidad de ejecutar el ciclo mínimo una vez antes de revisar si se cumple la condición establecida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61BEE5D-5C66-ED13-D90C-F61873B0F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565" y="3499267"/>
            <a:ext cx="5164667" cy="26953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A831BBF-6199-A8E3-94C4-EED5D0AF1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565" y="93627"/>
            <a:ext cx="5164667" cy="332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2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32A84-33E2-87BF-CF0E-C17C09788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E5F08E5-96FD-2075-4B40-64E5CC9E1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E2CC41-9D1F-DB79-D6FD-5C4823E4F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06A938-8BD4-321C-AD4E-316A454E1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0DBE18-5041-0CFC-2BFD-14BF05232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5E5D6B-D82D-8D7C-1F7A-44EF3D073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3DDDD7-BB28-8739-F7FB-31576023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Arreglos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D42437E-A434-35D8-CBAD-916FDD36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988CDB03-B325-7216-D6E2-DCFF1193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CAFFD720-639C-5C4C-92E7-B7559543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7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EA119B4-D40E-898F-E06E-BA7FC509E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203" y="1828997"/>
            <a:ext cx="4458077" cy="2716041"/>
          </a:xfrm>
        </p:spPr>
        <p:txBody>
          <a:bodyPr anchor="ctr">
            <a:normAutofit/>
          </a:bodyPr>
          <a:lstStyle/>
          <a:p>
            <a:r>
              <a:rPr lang="es-CL" sz="2600" dirty="0">
                <a:latin typeface="Calibri" panose="020F0502020204030204" pitchFamily="34" charset="0"/>
                <a:cs typeface="Calibri" panose="020F0502020204030204" pitchFamily="34" charset="0"/>
              </a:rPr>
              <a:t>Los arreglos permiten almacenar un conjunto definido de un tipo de dato</a:t>
            </a:r>
          </a:p>
          <a:p>
            <a:r>
              <a:rPr lang="es-CL" sz="2600" dirty="0">
                <a:latin typeface="Calibri" panose="020F0502020204030204" pitchFamily="34" charset="0"/>
                <a:cs typeface="Calibri" panose="020F0502020204030204" pitchFamily="34" charset="0"/>
              </a:rPr>
              <a:t>Recordar que al definir un arreglo de tamaño </a:t>
            </a:r>
            <a:r>
              <a:rPr lang="es-CL" sz="2600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s-CL" sz="2600" dirty="0">
                <a:latin typeface="Calibri" panose="020F0502020204030204" pitchFamily="34" charset="0"/>
                <a:cs typeface="Calibri" panose="020F0502020204030204" pitchFamily="34" charset="0"/>
              </a:rPr>
              <a:t>, la primera posición será la 0 y la ultima posición será la </a:t>
            </a:r>
            <a:r>
              <a:rPr lang="es-CL" sz="2600" i="1" dirty="0">
                <a:latin typeface="Calibri" panose="020F0502020204030204" pitchFamily="34" charset="0"/>
                <a:cs typeface="Calibri" panose="020F0502020204030204" pitchFamily="34" charset="0"/>
              </a:rPr>
              <a:t>N-1</a:t>
            </a:r>
          </a:p>
          <a:p>
            <a:pPr marL="0" indent="0" algn="ctr">
              <a:buNone/>
            </a:pP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E840E96-E645-43D9-9C11-416F7986E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218" y="1651862"/>
            <a:ext cx="5080521" cy="2060047"/>
          </a:xfrm>
          <a:prstGeom prst="rect">
            <a:avLst/>
          </a:prstGeom>
        </p:spPr>
      </p:pic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886DDA37-C9EC-592F-1771-7DD1C48C78B0}"/>
              </a:ext>
            </a:extLst>
          </p:cNvPr>
          <p:cNvSpPr txBox="1">
            <a:spLocks/>
          </p:cNvSpPr>
          <p:nvPr/>
        </p:nvSpPr>
        <p:spPr>
          <a:xfrm>
            <a:off x="5524123" y="3051209"/>
            <a:ext cx="4458077" cy="2716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s-C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E395F94F-028D-F598-5AEA-2512EC98F648}"/>
              </a:ext>
            </a:extLst>
          </p:cNvPr>
          <p:cNvSpPr txBox="1">
            <a:spLocks/>
          </p:cNvSpPr>
          <p:nvPr/>
        </p:nvSpPr>
        <p:spPr>
          <a:xfrm>
            <a:off x="1218203" y="5066673"/>
            <a:ext cx="5010912" cy="278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10400" dirty="0">
                <a:latin typeface="Calibri" panose="020F0502020204030204" pitchFamily="34" charset="0"/>
                <a:cs typeface="Calibri" panose="020F0502020204030204" pitchFamily="34" charset="0"/>
              </a:rPr>
              <a:t>Ejemplo uso del índice en </a:t>
            </a:r>
            <a:r>
              <a:rPr lang="es-CL" sz="10400" dirty="0" err="1">
                <a:latin typeface="Calibri" panose="020F0502020204030204" pitchFamily="34" charset="0"/>
                <a:cs typeface="Calibri" panose="020F0502020204030204" pitchFamily="34" charset="0"/>
              </a:rPr>
              <a:t>strings</a:t>
            </a:r>
            <a:r>
              <a:rPr lang="es-CL" sz="10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s-C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DC56342-4319-F7AC-5774-04DA083C7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217" y="3738293"/>
            <a:ext cx="5080521" cy="261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33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544C5-5C77-1046-BD6E-30B81818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5">
            <a:extLst>
              <a:ext uri="{FF2B5EF4-FFF2-40B4-BE49-F238E27FC236}">
                <a16:creationId xmlns:a16="http://schemas.microsoft.com/office/drawing/2014/main" id="{8BE0DAED-B712-40C2-045C-94B8E69AF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1" name="Rectangle 27">
            <a:extLst>
              <a:ext uri="{FF2B5EF4-FFF2-40B4-BE49-F238E27FC236}">
                <a16:creationId xmlns:a16="http://schemas.microsoft.com/office/drawing/2014/main" id="{8D5753AF-0CD4-2F16-0D8A-570717B34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313ABF51-08F5-2EEE-9390-7EFDA706A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7033FA15-04FB-FA3A-0865-195C0B270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4" name="Oval 33">
            <a:extLst>
              <a:ext uri="{FF2B5EF4-FFF2-40B4-BE49-F238E27FC236}">
                <a16:creationId xmlns:a16="http://schemas.microsoft.com/office/drawing/2014/main" id="{B50BDF7B-039B-AE99-E753-A5FB40E98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D4587ED-D239-B184-F5C1-F246E0AC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00" y="1872532"/>
            <a:ext cx="5624802" cy="16450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s-CL" sz="4800" b="1" kern="12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Ejercitación</a:t>
            </a:r>
          </a:p>
        </p:txBody>
      </p:sp>
      <p:sp>
        <p:nvSpPr>
          <p:cNvPr id="45" name="Rectangle 35">
            <a:extLst>
              <a:ext uri="{FF2B5EF4-FFF2-40B4-BE49-F238E27FC236}">
                <a16:creationId xmlns:a16="http://schemas.microsoft.com/office/drawing/2014/main" id="{013D17C2-3196-2504-2948-216C7DB22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6" name="Rectangle 37">
            <a:extLst>
              <a:ext uri="{FF2B5EF4-FFF2-40B4-BE49-F238E27FC236}">
                <a16:creationId xmlns:a16="http://schemas.microsoft.com/office/drawing/2014/main" id="{FD61D6F1-50ED-8631-EF1A-24818376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Marcador de fecha 15">
            <a:extLst>
              <a:ext uri="{FF2B5EF4-FFF2-40B4-BE49-F238E27FC236}">
                <a16:creationId xmlns:a16="http://schemas.microsoft.com/office/drawing/2014/main" id="{65C29B6B-C301-D9AA-5DB6-526428E3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18" name="Marcador de pie de página 17">
            <a:extLst>
              <a:ext uri="{FF2B5EF4-FFF2-40B4-BE49-F238E27FC236}">
                <a16:creationId xmlns:a16="http://schemas.microsoft.com/office/drawing/2014/main" id="{C9962483-8D12-057A-DC1E-84A18B8D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6FB3F0DA-5297-8CBE-055E-78C8858F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8</a:t>
            </a:fld>
            <a:endParaRPr lang="es-CL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A388A1-8013-0929-1598-77732A599D8A}"/>
              </a:ext>
            </a:extLst>
          </p:cNvPr>
          <p:cNvSpPr txBox="1"/>
          <p:nvPr/>
        </p:nvSpPr>
        <p:spPr>
          <a:xfrm>
            <a:off x="911800" y="1891139"/>
            <a:ext cx="411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b="1" noProof="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Sección 2</a:t>
            </a:r>
          </a:p>
        </p:txBody>
      </p:sp>
    </p:spTree>
    <p:extLst>
      <p:ext uri="{BB962C8B-B14F-4D97-AF65-F5344CB8AC3E}">
        <p14:creationId xmlns:p14="http://schemas.microsoft.com/office/powerpoint/2010/main" val="2570848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51B6E-8740-57C9-F5DD-776A0095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E8C6C6-7809-68C1-0224-08431BA6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C12B0E-EBD6-282D-B074-F255FE63D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E27D2A-FDCB-CAEB-4790-0B6976FD3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EFAA56-4E67-5285-3D4F-39F31568C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2B973C-B95A-6AE9-3D23-F9CCD80C2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09A79C-1BD7-6DAB-72C3-47148DEA2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Ejercicio 1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C86923-5C39-F95D-4C90-B49744E8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1CE02C3A-F364-B87A-53FD-E7614344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86CEE8D6-F456-783C-B292-BE97FAF9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9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A83D8D2-789A-AD82-11F5-27323B77E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23" y="2128521"/>
            <a:ext cx="9895950" cy="3683358"/>
          </a:xfrm>
        </p:spPr>
        <p:txBody>
          <a:bodyPr anchor="ctr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CL" sz="3200" b="1" dirty="0">
                <a:latin typeface="Calibri" panose="020F0502020204030204" pitchFamily="34" charset="0"/>
                <a:cs typeface="Calibri" panose="020F0502020204030204" pitchFamily="34" charset="0"/>
              </a:rPr>
              <a:t>Invertir numero</a:t>
            </a:r>
          </a:p>
          <a:p>
            <a:pPr marL="0" indent="0" algn="just">
              <a:buNone/>
            </a:pPr>
            <a:r>
              <a:rPr lang="es-CL" sz="3200" dirty="0">
                <a:latin typeface="Calibri" panose="020F0502020204030204" pitchFamily="34" charset="0"/>
                <a:cs typeface="Calibri" panose="020F0502020204030204" pitchFamily="34" charset="0"/>
              </a:rPr>
              <a:t>Se ingresa un número de tamaño </a:t>
            </a:r>
            <a:r>
              <a:rPr lang="es-CL" sz="3200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s-CL" sz="3200" dirty="0">
                <a:latin typeface="Calibri" panose="020F0502020204030204" pitchFamily="34" charset="0"/>
                <a:cs typeface="Calibri" panose="020F0502020204030204" pitchFamily="34" charset="0"/>
              </a:rPr>
              <a:t> como </a:t>
            </a:r>
            <a:r>
              <a:rPr lang="es-CL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es-CL" sz="3200" dirty="0">
                <a:latin typeface="Calibri" panose="020F0502020204030204" pitchFamily="34" charset="0"/>
                <a:cs typeface="Calibri" panose="020F0502020204030204" pitchFamily="34" charset="0"/>
              </a:rPr>
              <a:t>, utilizando ciclos y acceso por índice, mostrar el número invertido.</a:t>
            </a:r>
          </a:p>
          <a:p>
            <a:pPr marL="0" indent="0" algn="just">
              <a:buNone/>
            </a:pPr>
            <a:r>
              <a:rPr lang="es-CL" i="1" dirty="0">
                <a:latin typeface="Calibri" panose="020F0502020204030204" pitchFamily="34" charset="0"/>
                <a:cs typeface="Calibri" panose="020F0502020204030204" pitchFamily="34" charset="0"/>
              </a:rPr>
              <a:t>Ejemplo: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Input: 9503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Output: 3059</a:t>
            </a:r>
          </a:p>
          <a:p>
            <a:pPr marL="0" indent="0" algn="just">
              <a:buNone/>
            </a:pP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s-CL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Hint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: Utilizar la función .</a:t>
            </a:r>
            <a:r>
              <a:rPr lang="es-CL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00926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076B4-A081-5B45-9441-BAB3121A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A4343D1-DEE5-377C-6EDC-4AECE466E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C1C030-32B5-FD90-DD91-37230593C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8632E0-A2A5-913E-F879-BA762B139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C5150A-21C1-067F-907B-1420D9F27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01A806-905D-03F7-9C1C-D6454C9DA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44B78E-EBE7-31ED-D74E-B74A273C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Ejercicio 2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F49A07-15B7-020A-FB1A-31001732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0E4984C7-74A1-BA8F-427D-5667837C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DFBAE3C0-DD31-23EE-EF1A-24FCEB1C8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10</a:t>
            </a:fld>
            <a:endParaRPr lang="es-CL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4F52FF-2AA6-C625-5DD9-6FF0E493F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23" y="2128521"/>
            <a:ext cx="9895950" cy="368335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CL" sz="3200" b="1" dirty="0">
                <a:latin typeface="Calibri" panose="020F0502020204030204" pitchFamily="34" charset="0"/>
                <a:cs typeface="Calibri" panose="020F0502020204030204" pitchFamily="34" charset="0"/>
              </a:rPr>
              <a:t>Numero mayor</a:t>
            </a:r>
          </a:p>
          <a:p>
            <a:pPr marL="0" indent="0" algn="just">
              <a:buNone/>
            </a:pPr>
            <a:r>
              <a:rPr lang="es-CL" sz="3200" dirty="0">
                <a:latin typeface="Calibri" panose="020F0502020204030204" pitchFamily="34" charset="0"/>
                <a:cs typeface="Calibri" panose="020F0502020204030204" pitchFamily="34" charset="0"/>
              </a:rPr>
              <a:t>Se añaden 5 números a un arreglo de enteros, se debe encontrar el número mas grande dentro del arreglo</a:t>
            </a:r>
          </a:p>
          <a:p>
            <a:pPr marL="0" indent="0" algn="just">
              <a:buNone/>
            </a:pPr>
            <a:r>
              <a:rPr lang="es-CL" i="1" dirty="0">
                <a:latin typeface="Calibri" panose="020F0502020204030204" pitchFamily="34" charset="0"/>
                <a:cs typeface="Calibri" panose="020F0502020204030204" pitchFamily="34" charset="0"/>
              </a:rPr>
              <a:t>Ejemplo: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Input: 5, 43, 19, 90, 532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Output: 532</a:t>
            </a:r>
          </a:p>
          <a:p>
            <a:pPr marL="0" indent="0" algn="just">
              <a:buNone/>
            </a:pP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1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94081-E7A0-4C73-E97E-8AEA39E2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28A4A9-CA33-48E9-AD32-16EBA47F6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187422-17E3-90F8-C4EC-498186EF1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20F997-A771-411A-0FAC-B8056ECEC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634F00-CCAA-1CE9-0A04-288DD30CC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9AB625-BD50-F18D-806B-5D1AC713C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436B0E-44ED-C593-8E53-27A390DF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Ejercicio Extra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5BF9CA-396A-4784-B9D3-3650C09E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 dirty="0"/>
              <a:t>Fecha: 16-03-2026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AC66019-F489-2914-319B-80B39BAF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 dirty="0"/>
              <a:t>Ayudantía N°1 Programación Avanzada </a:t>
            </a:r>
            <a:r>
              <a:rPr lang="es-CL" noProof="0" dirty="0" err="1"/>
              <a:t>Sec</a:t>
            </a:r>
            <a:r>
              <a:rPr lang="es-CL" noProof="0" dirty="0"/>
              <a:t>: 03 CIT1010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D503350-D868-0F3C-954D-43A35EB2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11</a:t>
            </a:fld>
            <a:endParaRPr lang="es-CL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E76823-8A77-1FC3-5355-9247FC900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23" y="2219961"/>
            <a:ext cx="9895950" cy="3683358"/>
          </a:xfrm>
        </p:spPr>
        <p:txBody>
          <a:bodyPr anchor="ctr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CL" sz="3200" b="1" dirty="0">
                <a:latin typeface="Calibri" panose="020F0502020204030204" pitchFamily="34" charset="0"/>
                <a:cs typeface="Calibri" panose="020F0502020204030204" pitchFamily="34" charset="0"/>
              </a:rPr>
              <a:t>Numero Palíndromo</a:t>
            </a:r>
          </a:p>
          <a:p>
            <a:pPr marL="0" indent="0" algn="just">
              <a:buNone/>
            </a:pPr>
            <a:r>
              <a:rPr lang="es-CL" sz="3200" dirty="0">
                <a:latin typeface="Calibri" panose="020F0502020204030204" pitchFamily="34" charset="0"/>
                <a:cs typeface="Calibri" panose="020F0502020204030204" pitchFamily="34" charset="0"/>
              </a:rPr>
              <a:t>Un numero palíndromo es el cual se lee de la misma forma al derecho y al revés, por ejemplo el numero 1001 es palíndromo</a:t>
            </a:r>
          </a:p>
          <a:p>
            <a:pPr marL="0" indent="0" algn="just">
              <a:buNone/>
            </a:pPr>
            <a:r>
              <a:rPr lang="es-CL" i="1" dirty="0">
                <a:latin typeface="Calibri" panose="020F0502020204030204" pitchFamily="34" charset="0"/>
                <a:cs typeface="Calibri" panose="020F0502020204030204" pitchFamily="34" charset="0"/>
              </a:rPr>
              <a:t>Ejemplo: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Input: 1001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Output: Es palíndromo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Input: 4521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Output: no es palíndromo</a:t>
            </a:r>
          </a:p>
          <a:p>
            <a:pPr marL="0" indent="0" algn="just">
              <a:buNone/>
            </a:pP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440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</TotalTime>
  <Words>594</Words>
  <Application>Microsoft Office PowerPoint</Application>
  <PresentationFormat>Panorámica</PresentationFormat>
  <Paragraphs>98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Ayudantía 1  Repaso de C++</vt:lpstr>
      <vt:lpstr>Repaso de contenido</vt:lpstr>
      <vt:lpstr>Tipos de datos</vt:lpstr>
      <vt:lpstr>Estructuras de control</vt:lpstr>
      <vt:lpstr>Presentación de PowerPoint</vt:lpstr>
      <vt:lpstr>Presentación de PowerPoint</vt:lpstr>
      <vt:lpstr>Arreglos</vt:lpstr>
      <vt:lpstr>Ejercitación</vt:lpstr>
      <vt:lpstr>Ejercicio 1</vt:lpstr>
      <vt:lpstr>Ejercicio 2</vt:lpstr>
      <vt:lpstr>Ejercicio 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Isaías Vásquez</dc:creator>
  <cp:lastModifiedBy>Isaías Vásquez</cp:lastModifiedBy>
  <cp:revision>7</cp:revision>
  <dcterms:created xsi:type="dcterms:W3CDTF">2026-03-14T18:55:42Z</dcterms:created>
  <dcterms:modified xsi:type="dcterms:W3CDTF">2026-03-16T23:30:04Z</dcterms:modified>
</cp:coreProperties>
</file>